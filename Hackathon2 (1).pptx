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Lst>
  <p:sldSz cx="18288000" cy="10287000"/>
  <p:notesSz cx="6858000" cy="9144000"/>
  <p:embeddedFontLst>
    <p:embeddedFont>
      <p:font typeface="Helvetica World" panose="020B0604020202020204" charset="-128"/>
      <p:regular r:id="rId10"/>
    </p:embeddedFont>
    <p:embeddedFont>
      <p:font typeface="Norwester" panose="020B0604020202020204" charset="0"/>
      <p:regular r:id="rId1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2" d="100"/>
          <a:sy n="52" d="100"/>
        </p:scale>
        <p:origin x="850"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2.fntdata"/><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5.jpe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5.jpeg"/><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8.jpeg"/></Relationships>
</file>

<file path=ppt/slides/_rels/slide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5.jpeg"/><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5.jpeg"/><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3.svg"/><Relationship Id="rId4" Type="http://schemas.openxmlformats.org/officeDocument/2006/relationships/image" Target="../media/image4.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3" name="Freeform 3"/>
          <p:cNvSpPr/>
          <p:nvPr/>
        </p:nvSpPr>
        <p:spPr>
          <a:xfrm rot="-5400000">
            <a:off x="-358858" y="4907320"/>
            <a:ext cx="3247475" cy="472360"/>
          </a:xfrm>
          <a:custGeom>
            <a:avLst/>
            <a:gdLst/>
            <a:ahLst/>
            <a:cxnLst/>
            <a:rect l="l" t="t" r="r" b="b"/>
            <a:pathLst>
              <a:path w="3247475" h="472360">
                <a:moveTo>
                  <a:pt x="0" y="0"/>
                </a:moveTo>
                <a:lnTo>
                  <a:pt x="3247476" y="0"/>
                </a:lnTo>
                <a:lnTo>
                  <a:pt x="3247476" y="472360"/>
                </a:lnTo>
                <a:lnTo>
                  <a:pt x="0" y="47236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 name="Freeform 4"/>
          <p:cNvSpPr/>
          <p:nvPr/>
        </p:nvSpPr>
        <p:spPr>
          <a:xfrm rot="-5400000" flipV="1">
            <a:off x="15399382" y="4907320"/>
            <a:ext cx="3247475" cy="472360"/>
          </a:xfrm>
          <a:custGeom>
            <a:avLst/>
            <a:gdLst/>
            <a:ahLst/>
            <a:cxnLst/>
            <a:rect l="l" t="t" r="r" b="b"/>
            <a:pathLst>
              <a:path w="3247475" h="472360">
                <a:moveTo>
                  <a:pt x="0" y="472360"/>
                </a:moveTo>
                <a:lnTo>
                  <a:pt x="3247476" y="472360"/>
                </a:lnTo>
                <a:lnTo>
                  <a:pt x="3247476" y="0"/>
                </a:lnTo>
                <a:lnTo>
                  <a:pt x="0" y="0"/>
                </a:lnTo>
                <a:lnTo>
                  <a:pt x="0" y="472360"/>
                </a:lnTo>
                <a:close/>
              </a:path>
            </a:pathLst>
          </a:custGeom>
          <a:blipFill>
            <a:blip>
              <a:extLst>
                <a:ext uri="{96DAC541-7B7A-43D3-8B79-37D633B846F1}">
                  <asvg:svgBlip xmlns:asvg="http://schemas.microsoft.com/office/drawing/2016/SVG/main" r:embed="rId3"/>
                </a:ext>
              </a:extLst>
            </a:blip>
            <a:stretch>
              <a:fillRect/>
            </a:stretch>
          </a:blipFill>
        </p:spPr>
      </p:sp>
      <p:sp>
        <p:nvSpPr>
          <p:cNvPr id="5" name="Freeform 5"/>
          <p:cNvSpPr/>
          <p:nvPr/>
        </p:nvSpPr>
        <p:spPr>
          <a:xfrm>
            <a:off x="550933" y="9561638"/>
            <a:ext cx="477767" cy="370921"/>
          </a:xfrm>
          <a:custGeom>
            <a:avLst/>
            <a:gdLst/>
            <a:ahLst/>
            <a:cxnLst/>
            <a:rect l="l" t="t" r="r" b="b"/>
            <a:pathLst>
              <a:path w="477767" h="370921">
                <a:moveTo>
                  <a:pt x="0" y="0"/>
                </a:moveTo>
                <a:lnTo>
                  <a:pt x="477767" y="0"/>
                </a:lnTo>
                <a:lnTo>
                  <a:pt x="477767" y="370920"/>
                </a:lnTo>
                <a:lnTo>
                  <a:pt x="0" y="370920"/>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6" name="Freeform 6"/>
          <p:cNvSpPr/>
          <p:nvPr/>
        </p:nvSpPr>
        <p:spPr>
          <a:xfrm flipH="1">
            <a:off x="17259300" y="9561638"/>
            <a:ext cx="472360" cy="366723"/>
          </a:xfrm>
          <a:custGeom>
            <a:avLst/>
            <a:gdLst/>
            <a:ahLst/>
            <a:cxnLst/>
            <a:rect l="l" t="t" r="r" b="b"/>
            <a:pathLst>
              <a:path w="472360" h="366723">
                <a:moveTo>
                  <a:pt x="472360" y="0"/>
                </a:moveTo>
                <a:lnTo>
                  <a:pt x="0" y="0"/>
                </a:lnTo>
                <a:lnTo>
                  <a:pt x="0" y="366723"/>
                </a:lnTo>
                <a:lnTo>
                  <a:pt x="472360" y="366723"/>
                </a:lnTo>
                <a:lnTo>
                  <a:pt x="472360" y="0"/>
                </a:lnTo>
                <a:close/>
              </a:path>
            </a:pathLst>
          </a:custGeom>
          <a:blipFill>
            <a:blip>
              <a:extLst>
                <a:ext uri="{96DAC541-7B7A-43D3-8B79-37D633B846F1}">
                  <asvg:svgBlip xmlns:asvg="http://schemas.microsoft.com/office/drawing/2016/SVG/main" r:embed="rId4"/>
                </a:ext>
              </a:extLst>
            </a:blip>
            <a:stretch>
              <a:fillRect/>
            </a:stretch>
          </a:blipFill>
        </p:spPr>
      </p:sp>
      <p:sp>
        <p:nvSpPr>
          <p:cNvPr id="7" name="Freeform 7"/>
          <p:cNvSpPr/>
          <p:nvPr/>
        </p:nvSpPr>
        <p:spPr>
          <a:xfrm>
            <a:off x="1028700" y="1028700"/>
            <a:ext cx="1337383" cy="1157444"/>
          </a:xfrm>
          <a:custGeom>
            <a:avLst/>
            <a:gdLst/>
            <a:ahLst/>
            <a:cxnLst/>
            <a:rect l="l" t="t" r="r" b="b"/>
            <a:pathLst>
              <a:path w="1337383" h="1157444">
                <a:moveTo>
                  <a:pt x="0" y="0"/>
                </a:moveTo>
                <a:lnTo>
                  <a:pt x="1337383" y="0"/>
                </a:lnTo>
                <a:lnTo>
                  <a:pt x="1337383" y="1157444"/>
                </a:lnTo>
                <a:lnTo>
                  <a:pt x="0" y="1157444"/>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8" name="TextBox 8"/>
          <p:cNvSpPr txBox="1"/>
          <p:nvPr/>
        </p:nvSpPr>
        <p:spPr>
          <a:xfrm>
            <a:off x="2366083" y="3364834"/>
            <a:ext cx="15138060" cy="3181170"/>
          </a:xfrm>
          <a:prstGeom prst="rect">
            <a:avLst/>
          </a:prstGeom>
        </p:spPr>
        <p:txBody>
          <a:bodyPr lIns="0" tIns="0" rIns="0" bIns="0" rtlCol="0" anchor="t">
            <a:spAutoFit/>
          </a:bodyPr>
          <a:lstStyle/>
          <a:p>
            <a:pPr algn="ctr">
              <a:lnSpc>
                <a:spcPts val="25590"/>
              </a:lnSpc>
            </a:pPr>
            <a:r>
              <a:rPr lang="en-US" sz="19386" spc="-949">
                <a:solidFill>
                  <a:srgbClr val="38B6FF"/>
                </a:solidFill>
                <a:latin typeface="Norwester"/>
                <a:ea typeface="Norwester"/>
                <a:cs typeface="Norwester"/>
                <a:sym typeface="Norwester"/>
              </a:rPr>
              <a:t>CODE BEGINNER</a:t>
            </a:r>
          </a:p>
        </p:txBody>
      </p:sp>
      <p:sp>
        <p:nvSpPr>
          <p:cNvPr id="9" name="Freeform 9"/>
          <p:cNvSpPr/>
          <p:nvPr/>
        </p:nvSpPr>
        <p:spPr>
          <a:xfrm flipH="1">
            <a:off x="15921917" y="1048018"/>
            <a:ext cx="1337383" cy="1157444"/>
          </a:xfrm>
          <a:custGeom>
            <a:avLst/>
            <a:gdLst/>
            <a:ahLst/>
            <a:cxnLst/>
            <a:rect l="l" t="t" r="r" b="b"/>
            <a:pathLst>
              <a:path w="1337383" h="1157444">
                <a:moveTo>
                  <a:pt x="1337383" y="0"/>
                </a:moveTo>
                <a:lnTo>
                  <a:pt x="0" y="0"/>
                </a:lnTo>
                <a:lnTo>
                  <a:pt x="0" y="1157444"/>
                </a:lnTo>
                <a:lnTo>
                  <a:pt x="1337383" y="1157444"/>
                </a:lnTo>
                <a:lnTo>
                  <a:pt x="1337383" y="0"/>
                </a:lnTo>
                <a:close/>
              </a:path>
            </a:pathLst>
          </a:custGeom>
          <a:blipFill>
            <a:blip>
              <a:extLst>
                <a:ext uri="{96DAC541-7B7A-43D3-8B79-37D633B846F1}">
                  <asvg:svgBlip xmlns:asvg="http://schemas.microsoft.com/office/drawing/2016/SVG/main" r:embed="rId5"/>
                </a:ext>
              </a:extLst>
            </a:blip>
            <a:stretch>
              <a:fillRect/>
            </a:stretch>
          </a:blipFill>
        </p:spPr>
      </p:sp>
      <p:sp>
        <p:nvSpPr>
          <p:cNvPr id="10" name="TextBox 10"/>
          <p:cNvSpPr txBox="1"/>
          <p:nvPr/>
        </p:nvSpPr>
        <p:spPr>
          <a:xfrm>
            <a:off x="1697391" y="2312128"/>
            <a:ext cx="2236682" cy="1281305"/>
          </a:xfrm>
          <a:prstGeom prst="rect">
            <a:avLst/>
          </a:prstGeom>
        </p:spPr>
        <p:txBody>
          <a:bodyPr lIns="0" tIns="0" rIns="0" bIns="0" rtlCol="0" anchor="t">
            <a:spAutoFit/>
          </a:bodyPr>
          <a:lstStyle/>
          <a:p>
            <a:pPr algn="l">
              <a:lnSpc>
                <a:spcPts val="10295"/>
              </a:lnSpc>
              <a:spcBef>
                <a:spcPct val="0"/>
              </a:spcBef>
            </a:pPr>
            <a:r>
              <a:rPr lang="en-US" sz="7799" spc="-382">
                <a:solidFill>
                  <a:srgbClr val="FFFFFF"/>
                </a:solidFill>
                <a:latin typeface="Norwester"/>
                <a:ea typeface="Norwester"/>
                <a:cs typeface="Norwester"/>
                <a:sym typeface="Norwester"/>
              </a:rPr>
              <a:t>TEAM: </a:t>
            </a:r>
          </a:p>
        </p:txBody>
      </p:sp>
      <p:sp>
        <p:nvSpPr>
          <p:cNvPr id="11" name="TextBox 11"/>
          <p:cNvSpPr txBox="1"/>
          <p:nvPr/>
        </p:nvSpPr>
        <p:spPr>
          <a:xfrm>
            <a:off x="13620445" y="7890623"/>
            <a:ext cx="3883699" cy="1856475"/>
          </a:xfrm>
          <a:prstGeom prst="rect">
            <a:avLst/>
          </a:prstGeom>
        </p:spPr>
        <p:txBody>
          <a:bodyPr lIns="0" tIns="0" rIns="0" bIns="0" rtlCol="0" anchor="t">
            <a:spAutoFit/>
          </a:bodyPr>
          <a:lstStyle/>
          <a:p>
            <a:pPr algn="l">
              <a:lnSpc>
                <a:spcPts val="3684"/>
              </a:lnSpc>
            </a:pPr>
            <a:r>
              <a:rPr lang="en-US" sz="2791" spc="-136">
                <a:solidFill>
                  <a:srgbClr val="FFFFFF"/>
                </a:solidFill>
                <a:latin typeface="Norwester"/>
                <a:ea typeface="Norwester"/>
                <a:cs typeface="Norwester"/>
                <a:sym typeface="Norwester"/>
              </a:rPr>
              <a:t>TEAM MEMBER:</a:t>
            </a:r>
          </a:p>
          <a:p>
            <a:pPr algn="l">
              <a:lnSpc>
                <a:spcPts val="3684"/>
              </a:lnSpc>
            </a:pPr>
            <a:r>
              <a:rPr lang="en-US" sz="2791" spc="-136">
                <a:solidFill>
                  <a:srgbClr val="FFFFFF"/>
                </a:solidFill>
                <a:latin typeface="Norwester"/>
                <a:ea typeface="Norwester"/>
                <a:cs typeface="Norwester"/>
                <a:sym typeface="Norwester"/>
              </a:rPr>
              <a:t>        VAISHNAVI. B (LEADER)</a:t>
            </a:r>
          </a:p>
          <a:p>
            <a:pPr algn="l">
              <a:lnSpc>
                <a:spcPts val="3684"/>
              </a:lnSpc>
            </a:pPr>
            <a:r>
              <a:rPr lang="en-US" sz="2791" spc="-136">
                <a:solidFill>
                  <a:srgbClr val="FFFFFF"/>
                </a:solidFill>
                <a:latin typeface="Norwester"/>
                <a:ea typeface="Norwester"/>
                <a:cs typeface="Norwester"/>
                <a:sym typeface="Norwester"/>
              </a:rPr>
              <a:t>        SHARANYA</a:t>
            </a:r>
          </a:p>
          <a:p>
            <a:pPr algn="l">
              <a:lnSpc>
                <a:spcPts val="3684"/>
              </a:lnSpc>
              <a:spcBef>
                <a:spcPct val="0"/>
              </a:spcBef>
            </a:pPr>
            <a:r>
              <a:rPr lang="en-US" sz="2791" spc="-136">
                <a:solidFill>
                  <a:srgbClr val="FFFFFF"/>
                </a:solidFill>
                <a:latin typeface="Norwester"/>
                <a:ea typeface="Norwester"/>
                <a:cs typeface="Norwester"/>
                <a:sym typeface="Norwester"/>
              </a:rPr>
              <a:t>        SHRADHA.B.PATIL</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3" name="Freeform 3"/>
          <p:cNvSpPr/>
          <p:nvPr/>
        </p:nvSpPr>
        <p:spPr>
          <a:xfrm rot="-10800000" flipV="1">
            <a:off x="721514" y="9258300"/>
            <a:ext cx="3247475" cy="472360"/>
          </a:xfrm>
          <a:custGeom>
            <a:avLst/>
            <a:gdLst/>
            <a:ahLst/>
            <a:cxnLst/>
            <a:rect l="l" t="t" r="r" b="b"/>
            <a:pathLst>
              <a:path w="3247475" h="472360">
                <a:moveTo>
                  <a:pt x="0" y="472360"/>
                </a:moveTo>
                <a:lnTo>
                  <a:pt x="3247475" y="472360"/>
                </a:lnTo>
                <a:lnTo>
                  <a:pt x="3247475" y="0"/>
                </a:lnTo>
                <a:lnTo>
                  <a:pt x="0" y="0"/>
                </a:lnTo>
                <a:lnTo>
                  <a:pt x="0" y="472360"/>
                </a:lnTo>
                <a:close/>
              </a:path>
            </a:pathLst>
          </a:custGeom>
          <a:blipFill>
            <a:blip>
              <a:extLst>
                <a:ext uri="{96DAC541-7B7A-43D3-8B79-37D633B846F1}">
                  <asvg:svgBlip xmlns:asvg="http://schemas.microsoft.com/office/drawing/2016/SVG/main" r:embed="rId3"/>
                </a:ext>
              </a:extLst>
            </a:blip>
            <a:stretch>
              <a:fillRect/>
            </a:stretch>
          </a:blipFill>
        </p:spPr>
      </p:sp>
      <p:sp>
        <p:nvSpPr>
          <p:cNvPr id="4" name="Freeform 4"/>
          <p:cNvSpPr/>
          <p:nvPr/>
        </p:nvSpPr>
        <p:spPr>
          <a:xfrm flipV="1">
            <a:off x="14432156" y="556340"/>
            <a:ext cx="3247475" cy="472360"/>
          </a:xfrm>
          <a:custGeom>
            <a:avLst/>
            <a:gdLst/>
            <a:ahLst/>
            <a:cxnLst/>
            <a:rect l="l" t="t" r="r" b="b"/>
            <a:pathLst>
              <a:path w="3247475" h="472360">
                <a:moveTo>
                  <a:pt x="0" y="472360"/>
                </a:moveTo>
                <a:lnTo>
                  <a:pt x="3247475" y="472360"/>
                </a:lnTo>
                <a:lnTo>
                  <a:pt x="3247475" y="0"/>
                </a:lnTo>
                <a:lnTo>
                  <a:pt x="0" y="0"/>
                </a:lnTo>
                <a:lnTo>
                  <a:pt x="0" y="472360"/>
                </a:lnTo>
                <a:close/>
              </a:path>
            </a:pathLst>
          </a:custGeom>
          <a:blipFill>
            <a:blip>
              <a:extLst>
                <a:ext uri="{96DAC541-7B7A-43D3-8B79-37D633B846F1}">
                  <asvg:svgBlip xmlns:asvg="http://schemas.microsoft.com/office/drawing/2016/SVG/main" r:embed="rId3"/>
                </a:ext>
              </a:extLst>
            </a:blip>
            <a:stretch>
              <a:fillRect/>
            </a:stretch>
          </a:blipFill>
        </p:spPr>
      </p:sp>
      <p:sp>
        <p:nvSpPr>
          <p:cNvPr id="5" name="TextBox 5"/>
          <p:cNvSpPr txBox="1"/>
          <p:nvPr/>
        </p:nvSpPr>
        <p:spPr>
          <a:xfrm>
            <a:off x="566211" y="933450"/>
            <a:ext cx="7995516" cy="1228152"/>
          </a:xfrm>
          <a:prstGeom prst="rect">
            <a:avLst/>
          </a:prstGeom>
        </p:spPr>
        <p:txBody>
          <a:bodyPr lIns="0" tIns="0" rIns="0" bIns="0" rtlCol="0" anchor="t">
            <a:spAutoFit/>
          </a:bodyPr>
          <a:lstStyle/>
          <a:p>
            <a:pPr algn="l">
              <a:lnSpc>
                <a:spcPts val="9822"/>
              </a:lnSpc>
            </a:pPr>
            <a:r>
              <a:rPr lang="en-US" sz="7441" spc="-364">
                <a:solidFill>
                  <a:srgbClr val="38B6FF"/>
                </a:solidFill>
                <a:latin typeface="Norwester"/>
                <a:ea typeface="Norwester"/>
                <a:cs typeface="Norwester"/>
                <a:sym typeface="Norwester"/>
              </a:rPr>
              <a:t>PROBLEM STATEMENT:</a:t>
            </a:r>
          </a:p>
        </p:txBody>
      </p:sp>
      <p:sp>
        <p:nvSpPr>
          <p:cNvPr id="6" name="TextBox 6"/>
          <p:cNvSpPr txBox="1"/>
          <p:nvPr/>
        </p:nvSpPr>
        <p:spPr>
          <a:xfrm>
            <a:off x="1264880" y="2867873"/>
            <a:ext cx="15994420" cy="4729698"/>
          </a:xfrm>
          <a:prstGeom prst="rect">
            <a:avLst/>
          </a:prstGeom>
        </p:spPr>
        <p:txBody>
          <a:bodyPr lIns="0" tIns="0" rIns="0" bIns="0" rtlCol="0" anchor="t">
            <a:spAutoFit/>
          </a:bodyPr>
          <a:lstStyle/>
          <a:p>
            <a:pPr algn="l">
              <a:lnSpc>
                <a:spcPts val="6282"/>
              </a:lnSpc>
            </a:pPr>
            <a:r>
              <a:rPr lang="en-US" sz="4832" spc="-144">
                <a:solidFill>
                  <a:srgbClr val="FFFFFF"/>
                </a:solidFill>
                <a:latin typeface="Helvetica World"/>
                <a:ea typeface="Helvetica World"/>
                <a:cs typeface="Helvetica World"/>
                <a:sym typeface="Helvetica World"/>
              </a:rPr>
              <a:t>Marine ecosystems are affected by pollution, biodiversity loss, and overuse of resources. Many tourists, fishermen, students, and local residents notice these problems, but there is no simple platform where they can report issues or participate in environmental activities. This leads to delayed action and lack of public involvement in protecting marine ecosystems.</a:t>
            </a:r>
          </a:p>
        </p:txBody>
      </p:sp>
      <p:sp>
        <p:nvSpPr>
          <p:cNvPr id="7" name="Freeform 7"/>
          <p:cNvSpPr/>
          <p:nvPr/>
        </p:nvSpPr>
        <p:spPr>
          <a:xfrm rot="5400000" flipV="1">
            <a:off x="16055894" y="7634562"/>
            <a:ext cx="3247475" cy="472360"/>
          </a:xfrm>
          <a:custGeom>
            <a:avLst/>
            <a:gdLst/>
            <a:ahLst/>
            <a:cxnLst/>
            <a:rect l="l" t="t" r="r" b="b"/>
            <a:pathLst>
              <a:path w="3247475" h="472360">
                <a:moveTo>
                  <a:pt x="0" y="472360"/>
                </a:moveTo>
                <a:lnTo>
                  <a:pt x="3247475" y="472360"/>
                </a:lnTo>
                <a:lnTo>
                  <a:pt x="3247475" y="0"/>
                </a:lnTo>
                <a:lnTo>
                  <a:pt x="0" y="0"/>
                </a:lnTo>
                <a:lnTo>
                  <a:pt x="0" y="472360"/>
                </a:lnTo>
                <a:close/>
              </a:path>
            </a:pathLst>
          </a:custGeom>
          <a:blipFill>
            <a:blip>
              <a:extLst>
                <a:ext uri="{96DAC541-7B7A-43D3-8B79-37D633B846F1}">
                  <asvg:svgBlip xmlns:asvg="http://schemas.microsoft.com/office/drawing/2016/SVG/main" r:embed="rId3"/>
                </a:ext>
              </a:extLst>
            </a:blip>
            <a:stretch>
              <a:fillRect/>
            </a:stretch>
          </a:blipFill>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3" name="Freeform 3"/>
          <p:cNvSpPr/>
          <p:nvPr/>
        </p:nvSpPr>
        <p:spPr>
          <a:xfrm flipV="1">
            <a:off x="13439530" y="9022120"/>
            <a:ext cx="3247475" cy="472360"/>
          </a:xfrm>
          <a:custGeom>
            <a:avLst/>
            <a:gdLst/>
            <a:ahLst/>
            <a:cxnLst/>
            <a:rect l="l" t="t" r="r" b="b"/>
            <a:pathLst>
              <a:path w="3247475" h="472360">
                <a:moveTo>
                  <a:pt x="0" y="472360"/>
                </a:moveTo>
                <a:lnTo>
                  <a:pt x="3247475" y="472360"/>
                </a:lnTo>
                <a:lnTo>
                  <a:pt x="3247475" y="0"/>
                </a:lnTo>
                <a:lnTo>
                  <a:pt x="0" y="0"/>
                </a:lnTo>
                <a:lnTo>
                  <a:pt x="0" y="472360"/>
                </a:lnTo>
                <a:close/>
              </a:path>
            </a:pathLst>
          </a:custGeom>
          <a:blipFill>
            <a:blip>
              <a:extLst>
                <a:ext uri="{96DAC541-7B7A-43D3-8B79-37D633B846F1}">
                  <asvg:svgBlip xmlns:asvg="http://schemas.microsoft.com/office/drawing/2016/SVG/main" r:embed="rId3"/>
                </a:ext>
              </a:extLst>
            </a:blip>
            <a:stretch>
              <a:fillRect/>
            </a:stretch>
          </a:blipFill>
        </p:spPr>
      </p:sp>
      <p:sp>
        <p:nvSpPr>
          <p:cNvPr id="4" name="TextBox 4"/>
          <p:cNvSpPr txBox="1"/>
          <p:nvPr/>
        </p:nvSpPr>
        <p:spPr>
          <a:xfrm>
            <a:off x="851718" y="670272"/>
            <a:ext cx="4497740" cy="1498348"/>
          </a:xfrm>
          <a:prstGeom prst="rect">
            <a:avLst/>
          </a:prstGeom>
        </p:spPr>
        <p:txBody>
          <a:bodyPr lIns="0" tIns="0" rIns="0" bIns="0" rtlCol="0" anchor="t">
            <a:spAutoFit/>
          </a:bodyPr>
          <a:lstStyle/>
          <a:p>
            <a:pPr algn="l">
              <a:lnSpc>
                <a:spcPts val="12000"/>
              </a:lnSpc>
            </a:pPr>
            <a:r>
              <a:rPr lang="en-US" sz="9091" spc="-445">
                <a:solidFill>
                  <a:srgbClr val="38B6FF"/>
                </a:solidFill>
                <a:latin typeface="Norwester"/>
                <a:ea typeface="Norwester"/>
                <a:cs typeface="Norwester"/>
                <a:sym typeface="Norwester"/>
              </a:rPr>
              <a:t>SOLUTION:</a:t>
            </a:r>
          </a:p>
        </p:txBody>
      </p:sp>
      <p:sp>
        <p:nvSpPr>
          <p:cNvPr id="5" name="TextBox 5"/>
          <p:cNvSpPr txBox="1"/>
          <p:nvPr/>
        </p:nvSpPr>
        <p:spPr>
          <a:xfrm>
            <a:off x="1028700" y="3632200"/>
            <a:ext cx="15915383" cy="4400632"/>
          </a:xfrm>
          <a:prstGeom prst="rect">
            <a:avLst/>
          </a:prstGeom>
        </p:spPr>
        <p:txBody>
          <a:bodyPr lIns="0" tIns="0" rIns="0" bIns="0" rtlCol="0" anchor="t">
            <a:spAutoFit/>
          </a:bodyPr>
          <a:lstStyle/>
          <a:p>
            <a:pPr marL="966369" lvl="1" indent="-483184" algn="l">
              <a:lnSpc>
                <a:spcPts val="5818"/>
              </a:lnSpc>
              <a:buFont typeface="Arial"/>
              <a:buChar char="•"/>
            </a:pPr>
            <a:r>
              <a:rPr lang="en-US" sz="4476" spc="-134">
                <a:solidFill>
                  <a:srgbClr val="FFFFFF"/>
                </a:solidFill>
                <a:latin typeface="Helvetica World"/>
                <a:ea typeface="Helvetica World"/>
                <a:cs typeface="Helvetica World"/>
                <a:sym typeface="Helvetica World"/>
              </a:rPr>
              <a:t>Develop an Awareness &amp; Reporting Mobile App that allows users to report marine environmental issues using text or images. The app will also connect volunteers for beach cleaning and awareness programs. This platform encourages public participation and helps authorities identify and solve environmental problems faster.</a:t>
            </a:r>
          </a:p>
        </p:txBody>
      </p:sp>
      <p:sp>
        <p:nvSpPr>
          <p:cNvPr id="6" name="Freeform 6"/>
          <p:cNvSpPr/>
          <p:nvPr/>
        </p:nvSpPr>
        <p:spPr>
          <a:xfrm rot="5400000" flipV="1">
            <a:off x="15871742" y="6531058"/>
            <a:ext cx="3247475" cy="472360"/>
          </a:xfrm>
          <a:custGeom>
            <a:avLst/>
            <a:gdLst/>
            <a:ahLst/>
            <a:cxnLst/>
            <a:rect l="l" t="t" r="r" b="b"/>
            <a:pathLst>
              <a:path w="3247475" h="472360">
                <a:moveTo>
                  <a:pt x="0" y="472360"/>
                </a:moveTo>
                <a:lnTo>
                  <a:pt x="3247476" y="472360"/>
                </a:lnTo>
                <a:lnTo>
                  <a:pt x="3247476" y="0"/>
                </a:lnTo>
                <a:lnTo>
                  <a:pt x="0" y="0"/>
                </a:lnTo>
                <a:lnTo>
                  <a:pt x="0" y="472360"/>
                </a:lnTo>
                <a:close/>
              </a:path>
            </a:pathLst>
          </a:custGeom>
          <a:blipFill>
            <a:blip>
              <a:extLst>
                <a:ext uri="{96DAC541-7B7A-43D3-8B79-37D633B846F1}">
                  <asvg:svgBlip xmlns:asvg="http://schemas.microsoft.com/office/drawing/2016/SVG/main" r:embed="rId3"/>
                </a:ext>
              </a:extLst>
            </a:blip>
            <a:stretch>
              <a:fillRect/>
            </a:stretch>
          </a:blipFill>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3" name="Freeform 3"/>
          <p:cNvSpPr/>
          <p:nvPr/>
        </p:nvSpPr>
        <p:spPr>
          <a:xfrm flipV="1">
            <a:off x="530568" y="407612"/>
            <a:ext cx="3247475" cy="472360"/>
          </a:xfrm>
          <a:custGeom>
            <a:avLst/>
            <a:gdLst/>
            <a:ahLst/>
            <a:cxnLst/>
            <a:rect l="l" t="t" r="r" b="b"/>
            <a:pathLst>
              <a:path w="3247475" h="472360">
                <a:moveTo>
                  <a:pt x="0" y="472360"/>
                </a:moveTo>
                <a:lnTo>
                  <a:pt x="3247475" y="472360"/>
                </a:lnTo>
                <a:lnTo>
                  <a:pt x="3247475" y="0"/>
                </a:lnTo>
                <a:lnTo>
                  <a:pt x="0" y="0"/>
                </a:lnTo>
                <a:lnTo>
                  <a:pt x="0" y="472360"/>
                </a:lnTo>
                <a:close/>
              </a:path>
            </a:pathLst>
          </a:custGeom>
          <a:blipFill>
            <a:blip>
              <a:extLst>
                <a:ext uri="{96DAC541-7B7A-43D3-8B79-37D633B846F1}">
                  <asvg:svgBlip xmlns:asvg="http://schemas.microsoft.com/office/drawing/2016/SVG/main" r:embed="rId3"/>
                </a:ext>
              </a:extLst>
            </a:blip>
            <a:stretch>
              <a:fillRect/>
            </a:stretch>
          </a:blipFill>
        </p:spPr>
      </p:sp>
      <p:sp>
        <p:nvSpPr>
          <p:cNvPr id="4" name="Freeform 4"/>
          <p:cNvSpPr/>
          <p:nvPr/>
        </p:nvSpPr>
        <p:spPr>
          <a:xfrm flipV="1">
            <a:off x="14462749" y="407612"/>
            <a:ext cx="3247475" cy="472360"/>
          </a:xfrm>
          <a:custGeom>
            <a:avLst/>
            <a:gdLst/>
            <a:ahLst/>
            <a:cxnLst/>
            <a:rect l="l" t="t" r="r" b="b"/>
            <a:pathLst>
              <a:path w="3247475" h="472360">
                <a:moveTo>
                  <a:pt x="0" y="472360"/>
                </a:moveTo>
                <a:lnTo>
                  <a:pt x="3247476" y="472360"/>
                </a:lnTo>
                <a:lnTo>
                  <a:pt x="3247476" y="0"/>
                </a:lnTo>
                <a:lnTo>
                  <a:pt x="0" y="0"/>
                </a:lnTo>
                <a:lnTo>
                  <a:pt x="0" y="472360"/>
                </a:lnTo>
                <a:close/>
              </a:path>
            </a:pathLst>
          </a:custGeom>
          <a:blipFill>
            <a:blip>
              <a:extLst>
                <a:ext uri="{96DAC541-7B7A-43D3-8B79-37D633B846F1}">
                  <asvg:svgBlip xmlns:asvg="http://schemas.microsoft.com/office/drawing/2016/SVG/main" r:embed="rId3"/>
                </a:ext>
              </a:extLst>
            </a:blip>
            <a:stretch>
              <a:fillRect/>
            </a:stretch>
          </a:blipFill>
        </p:spPr>
      </p:sp>
      <p:sp>
        <p:nvSpPr>
          <p:cNvPr id="5" name="Freeform 5"/>
          <p:cNvSpPr/>
          <p:nvPr/>
        </p:nvSpPr>
        <p:spPr>
          <a:xfrm rot="-10800000" flipV="1">
            <a:off x="530568" y="9490732"/>
            <a:ext cx="3247475" cy="472360"/>
          </a:xfrm>
          <a:custGeom>
            <a:avLst/>
            <a:gdLst/>
            <a:ahLst/>
            <a:cxnLst/>
            <a:rect l="l" t="t" r="r" b="b"/>
            <a:pathLst>
              <a:path w="3247475" h="472360">
                <a:moveTo>
                  <a:pt x="0" y="472360"/>
                </a:moveTo>
                <a:lnTo>
                  <a:pt x="3247475" y="472360"/>
                </a:lnTo>
                <a:lnTo>
                  <a:pt x="3247475" y="0"/>
                </a:lnTo>
                <a:lnTo>
                  <a:pt x="0" y="0"/>
                </a:lnTo>
                <a:lnTo>
                  <a:pt x="0" y="472360"/>
                </a:lnTo>
                <a:close/>
              </a:path>
            </a:pathLst>
          </a:custGeom>
          <a:blipFill>
            <a:blip>
              <a:extLst>
                <a:ext uri="{96DAC541-7B7A-43D3-8B79-37D633B846F1}">
                  <asvg:svgBlip xmlns:asvg="http://schemas.microsoft.com/office/drawing/2016/SVG/main" r:embed="rId3"/>
                </a:ext>
              </a:extLst>
            </a:blip>
            <a:stretch>
              <a:fillRect/>
            </a:stretch>
          </a:blipFill>
        </p:spPr>
      </p:sp>
      <p:sp>
        <p:nvSpPr>
          <p:cNvPr id="6" name="Freeform 6"/>
          <p:cNvSpPr/>
          <p:nvPr/>
        </p:nvSpPr>
        <p:spPr>
          <a:xfrm>
            <a:off x="1211462" y="1635275"/>
            <a:ext cx="16047838" cy="6672105"/>
          </a:xfrm>
          <a:custGeom>
            <a:avLst/>
            <a:gdLst/>
            <a:ahLst/>
            <a:cxnLst/>
            <a:rect l="l" t="t" r="r" b="b"/>
            <a:pathLst>
              <a:path w="16047838" h="6672105">
                <a:moveTo>
                  <a:pt x="0" y="0"/>
                </a:moveTo>
                <a:lnTo>
                  <a:pt x="16047838" y="0"/>
                </a:lnTo>
                <a:lnTo>
                  <a:pt x="16047838" y="6672105"/>
                </a:lnTo>
                <a:lnTo>
                  <a:pt x="0" y="6672105"/>
                </a:lnTo>
                <a:lnTo>
                  <a:pt x="0" y="0"/>
                </a:lnTo>
                <a:close/>
              </a:path>
            </a:pathLst>
          </a:custGeom>
          <a:blipFill>
            <a:blip r:embed="rId4"/>
            <a:stretch>
              <a:fillRect t="-24950" b="-35296"/>
            </a:stretch>
          </a:blipFill>
        </p:spPr>
      </p:sp>
      <p:sp>
        <p:nvSpPr>
          <p:cNvPr id="7" name="TextBox 7"/>
          <p:cNvSpPr txBox="1"/>
          <p:nvPr/>
        </p:nvSpPr>
        <p:spPr>
          <a:xfrm>
            <a:off x="8085838" y="8580163"/>
            <a:ext cx="10461381" cy="1706837"/>
          </a:xfrm>
          <a:prstGeom prst="rect">
            <a:avLst/>
          </a:prstGeom>
        </p:spPr>
        <p:txBody>
          <a:bodyPr lIns="0" tIns="0" rIns="0" bIns="0" rtlCol="0" anchor="t">
            <a:spAutoFit/>
          </a:bodyPr>
          <a:lstStyle/>
          <a:p>
            <a:pPr algn="l">
              <a:lnSpc>
                <a:spcPts val="13863"/>
              </a:lnSpc>
            </a:pPr>
            <a:r>
              <a:rPr lang="en-US" sz="10502" spc="-514">
                <a:solidFill>
                  <a:srgbClr val="38B6FF"/>
                </a:solidFill>
                <a:latin typeface="Norwester"/>
                <a:ea typeface="Norwester"/>
                <a:cs typeface="Norwester"/>
                <a:sym typeface="Norwester"/>
              </a:rPr>
              <a:t>PROTOTYPE (model):</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3" name="Freeform 3"/>
          <p:cNvSpPr/>
          <p:nvPr/>
        </p:nvSpPr>
        <p:spPr>
          <a:xfrm>
            <a:off x="608369" y="550520"/>
            <a:ext cx="11490064" cy="7655255"/>
          </a:xfrm>
          <a:custGeom>
            <a:avLst/>
            <a:gdLst/>
            <a:ahLst/>
            <a:cxnLst/>
            <a:rect l="l" t="t" r="r" b="b"/>
            <a:pathLst>
              <a:path w="11490064" h="7655255">
                <a:moveTo>
                  <a:pt x="0" y="0"/>
                </a:moveTo>
                <a:lnTo>
                  <a:pt x="11490064" y="0"/>
                </a:lnTo>
                <a:lnTo>
                  <a:pt x="11490064" y="7655255"/>
                </a:lnTo>
                <a:lnTo>
                  <a:pt x="0" y="7655255"/>
                </a:lnTo>
                <a:lnTo>
                  <a:pt x="0" y="0"/>
                </a:lnTo>
                <a:close/>
              </a:path>
            </a:pathLst>
          </a:custGeom>
          <a:blipFill>
            <a:blip r:embed="rId3"/>
            <a:stretch>
              <a:fillRect/>
            </a:stretch>
          </a:blipFill>
        </p:spPr>
      </p:sp>
      <p:sp>
        <p:nvSpPr>
          <p:cNvPr id="4" name="Freeform 4"/>
          <p:cNvSpPr/>
          <p:nvPr/>
        </p:nvSpPr>
        <p:spPr>
          <a:xfrm>
            <a:off x="9163049" y="7785134"/>
            <a:ext cx="8743570" cy="2263650"/>
          </a:xfrm>
          <a:custGeom>
            <a:avLst/>
            <a:gdLst/>
            <a:ahLst/>
            <a:cxnLst/>
            <a:rect l="l" t="t" r="r" b="b"/>
            <a:pathLst>
              <a:path w="8743570" h="2263650">
                <a:moveTo>
                  <a:pt x="0" y="0"/>
                </a:moveTo>
                <a:lnTo>
                  <a:pt x="8743570" y="0"/>
                </a:lnTo>
                <a:lnTo>
                  <a:pt x="8743570" y="2263650"/>
                </a:lnTo>
                <a:lnTo>
                  <a:pt x="0" y="2263650"/>
                </a:lnTo>
                <a:lnTo>
                  <a:pt x="0" y="0"/>
                </a:lnTo>
                <a:close/>
              </a:path>
            </a:pathLst>
          </a:custGeom>
          <a:blipFill>
            <a:blip r:embed="rId4"/>
            <a:stretch>
              <a:fillRect t="-71343" b="-86002"/>
            </a:stretch>
          </a:blipFill>
        </p:spPr>
      </p:sp>
      <p:sp>
        <p:nvSpPr>
          <p:cNvPr id="5" name="Freeform 5"/>
          <p:cNvSpPr/>
          <p:nvPr/>
        </p:nvSpPr>
        <p:spPr>
          <a:xfrm>
            <a:off x="13610860" y="1028700"/>
            <a:ext cx="3808137" cy="4951478"/>
          </a:xfrm>
          <a:custGeom>
            <a:avLst/>
            <a:gdLst/>
            <a:ahLst/>
            <a:cxnLst/>
            <a:rect l="l" t="t" r="r" b="b"/>
            <a:pathLst>
              <a:path w="3808137" h="4951478">
                <a:moveTo>
                  <a:pt x="0" y="0"/>
                </a:moveTo>
                <a:lnTo>
                  <a:pt x="3808137" y="0"/>
                </a:lnTo>
                <a:lnTo>
                  <a:pt x="3808137" y="4951478"/>
                </a:lnTo>
                <a:lnTo>
                  <a:pt x="0" y="4951478"/>
                </a:lnTo>
                <a:lnTo>
                  <a:pt x="0" y="0"/>
                </a:lnTo>
                <a:close/>
              </a:path>
            </a:pathLst>
          </a:custGeom>
          <a:blipFill>
            <a:blip r:embed="rId5"/>
            <a:stretch>
              <a:fillRect/>
            </a:stretch>
          </a:blipFill>
        </p:spPr>
      </p:sp>
      <p:sp>
        <p:nvSpPr>
          <p:cNvPr id="6" name="TextBox 6"/>
          <p:cNvSpPr txBox="1"/>
          <p:nvPr/>
        </p:nvSpPr>
        <p:spPr>
          <a:xfrm>
            <a:off x="429709" y="8192453"/>
            <a:ext cx="8323412" cy="1979295"/>
          </a:xfrm>
          <a:prstGeom prst="rect">
            <a:avLst/>
          </a:prstGeom>
        </p:spPr>
        <p:txBody>
          <a:bodyPr lIns="0" tIns="0" rIns="0" bIns="0" rtlCol="0" anchor="t">
            <a:spAutoFit/>
          </a:bodyPr>
          <a:lstStyle/>
          <a:p>
            <a:pPr algn="l">
              <a:lnSpc>
                <a:spcPts val="15840"/>
              </a:lnSpc>
            </a:pPr>
            <a:r>
              <a:rPr lang="en-US" sz="12000" spc="-588">
                <a:solidFill>
                  <a:srgbClr val="38B6FF"/>
                </a:solidFill>
                <a:latin typeface="Norwester"/>
                <a:ea typeface="Norwester"/>
                <a:cs typeface="Norwester"/>
                <a:sym typeface="Norwester"/>
              </a:rPr>
              <a:t>ARCHITECTURE:</a:t>
            </a:r>
          </a:p>
        </p:txBody>
      </p:sp>
      <p:sp>
        <p:nvSpPr>
          <p:cNvPr id="7" name="AutoShape 7"/>
          <p:cNvSpPr/>
          <p:nvPr/>
        </p:nvSpPr>
        <p:spPr>
          <a:xfrm>
            <a:off x="9163049" y="7785134"/>
            <a:ext cx="3245102" cy="0"/>
          </a:xfrm>
          <a:prstGeom prst="line">
            <a:avLst/>
          </a:prstGeom>
          <a:ln w="38100" cap="flat">
            <a:solidFill>
              <a:srgbClr val="000000"/>
            </a:solidFill>
            <a:prstDash val="solid"/>
            <a:headEnd type="none" w="sm" len="sm"/>
            <a:tailEnd type="none" w="sm" len="sm"/>
          </a:ln>
        </p:spPr>
      </p:sp>
      <p:sp>
        <p:nvSpPr>
          <p:cNvPr id="8" name="AutoShape 8"/>
          <p:cNvSpPr/>
          <p:nvPr/>
        </p:nvSpPr>
        <p:spPr>
          <a:xfrm>
            <a:off x="9182099" y="7785134"/>
            <a:ext cx="0" cy="2354719"/>
          </a:xfrm>
          <a:prstGeom prst="line">
            <a:avLst/>
          </a:prstGeom>
          <a:ln w="38100" cap="flat">
            <a:solidFill>
              <a:srgbClr val="000000"/>
            </a:solidFill>
            <a:prstDash val="solid"/>
            <a:headEnd type="none" w="sm" len="sm"/>
            <a:tailEnd type="none" w="sm" len="sm"/>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3" name="Freeform 3"/>
          <p:cNvSpPr/>
          <p:nvPr/>
        </p:nvSpPr>
        <p:spPr>
          <a:xfrm flipV="1">
            <a:off x="14546312" y="320166"/>
            <a:ext cx="3247475" cy="472360"/>
          </a:xfrm>
          <a:custGeom>
            <a:avLst/>
            <a:gdLst/>
            <a:ahLst/>
            <a:cxnLst/>
            <a:rect l="l" t="t" r="r" b="b"/>
            <a:pathLst>
              <a:path w="3247475" h="472360">
                <a:moveTo>
                  <a:pt x="0" y="472360"/>
                </a:moveTo>
                <a:lnTo>
                  <a:pt x="3247475" y="472360"/>
                </a:lnTo>
                <a:lnTo>
                  <a:pt x="3247475" y="0"/>
                </a:lnTo>
                <a:lnTo>
                  <a:pt x="0" y="0"/>
                </a:lnTo>
                <a:lnTo>
                  <a:pt x="0" y="472360"/>
                </a:lnTo>
                <a:close/>
              </a:path>
            </a:pathLst>
          </a:custGeom>
          <a:blipFill>
            <a:blip>
              <a:extLst>
                <a:ext uri="{96DAC541-7B7A-43D3-8B79-37D633B846F1}">
                  <asvg:svgBlip xmlns:asvg="http://schemas.microsoft.com/office/drawing/2016/SVG/main" r:embed="rId3"/>
                </a:ext>
              </a:extLst>
            </a:blip>
            <a:stretch>
              <a:fillRect/>
            </a:stretch>
          </a:blipFill>
        </p:spPr>
      </p:sp>
      <p:sp>
        <p:nvSpPr>
          <p:cNvPr id="4" name="Freeform 4"/>
          <p:cNvSpPr/>
          <p:nvPr/>
        </p:nvSpPr>
        <p:spPr>
          <a:xfrm>
            <a:off x="535063" y="5324513"/>
            <a:ext cx="5291646" cy="4095383"/>
          </a:xfrm>
          <a:custGeom>
            <a:avLst/>
            <a:gdLst/>
            <a:ahLst/>
            <a:cxnLst/>
            <a:rect l="l" t="t" r="r" b="b"/>
            <a:pathLst>
              <a:path w="5291646" h="4095383">
                <a:moveTo>
                  <a:pt x="0" y="0"/>
                </a:moveTo>
                <a:lnTo>
                  <a:pt x="5291646" y="0"/>
                </a:lnTo>
                <a:lnTo>
                  <a:pt x="5291646" y="4095383"/>
                </a:lnTo>
                <a:lnTo>
                  <a:pt x="0" y="4095383"/>
                </a:lnTo>
                <a:lnTo>
                  <a:pt x="0" y="0"/>
                </a:lnTo>
                <a:close/>
              </a:path>
            </a:pathLst>
          </a:custGeom>
          <a:blipFill>
            <a:blip r:embed="rId4"/>
            <a:stretch>
              <a:fillRect l="-79723" t="-30959" r="-73661"/>
            </a:stretch>
          </a:blipFill>
        </p:spPr>
      </p:sp>
      <p:sp>
        <p:nvSpPr>
          <p:cNvPr id="5" name="TextBox 5"/>
          <p:cNvSpPr txBox="1"/>
          <p:nvPr/>
        </p:nvSpPr>
        <p:spPr>
          <a:xfrm>
            <a:off x="272501" y="96479"/>
            <a:ext cx="9206551" cy="1740618"/>
          </a:xfrm>
          <a:prstGeom prst="rect">
            <a:avLst/>
          </a:prstGeom>
        </p:spPr>
        <p:txBody>
          <a:bodyPr lIns="0" tIns="0" rIns="0" bIns="0" rtlCol="0" anchor="t">
            <a:spAutoFit/>
          </a:bodyPr>
          <a:lstStyle/>
          <a:p>
            <a:pPr algn="l">
              <a:lnSpc>
                <a:spcPts val="14018"/>
              </a:lnSpc>
            </a:pPr>
            <a:r>
              <a:rPr lang="en-US" sz="10619" spc="-520">
                <a:solidFill>
                  <a:srgbClr val="38B6FF"/>
                </a:solidFill>
                <a:latin typeface="Norwester"/>
                <a:ea typeface="Norwester"/>
                <a:cs typeface="Norwester"/>
                <a:sym typeface="Norwester"/>
              </a:rPr>
              <a:t>TARGET MARKET</a:t>
            </a:r>
          </a:p>
        </p:txBody>
      </p:sp>
      <p:sp>
        <p:nvSpPr>
          <p:cNvPr id="6" name="TextBox 6"/>
          <p:cNvSpPr txBox="1"/>
          <p:nvPr/>
        </p:nvSpPr>
        <p:spPr>
          <a:xfrm>
            <a:off x="802841" y="1945051"/>
            <a:ext cx="17971858" cy="1652697"/>
          </a:xfrm>
          <a:prstGeom prst="rect">
            <a:avLst/>
          </a:prstGeom>
        </p:spPr>
        <p:txBody>
          <a:bodyPr lIns="0" tIns="0" rIns="0" bIns="0" rtlCol="0" anchor="t">
            <a:spAutoFit/>
          </a:bodyPr>
          <a:lstStyle/>
          <a:p>
            <a:pPr marL="726804" lvl="1" indent="-363402" algn="l">
              <a:lnSpc>
                <a:spcPts val="4376"/>
              </a:lnSpc>
              <a:buFont typeface="Arial"/>
              <a:buChar char="•"/>
            </a:pPr>
            <a:r>
              <a:rPr lang="en-US" sz="3366" spc="-100">
                <a:solidFill>
                  <a:srgbClr val="FFFFFF"/>
                </a:solidFill>
                <a:latin typeface="Helvetica World"/>
                <a:ea typeface="Helvetica World"/>
                <a:cs typeface="Helvetica World"/>
                <a:sym typeface="Helvetica World"/>
              </a:rPr>
              <a:t>Government marine authorities</a:t>
            </a:r>
          </a:p>
          <a:p>
            <a:pPr marL="726804" lvl="1" indent="-363402" algn="l">
              <a:lnSpc>
                <a:spcPts val="4376"/>
              </a:lnSpc>
              <a:buFont typeface="Arial"/>
              <a:buChar char="•"/>
            </a:pPr>
            <a:r>
              <a:rPr lang="en-US" sz="3366" spc="-100">
                <a:solidFill>
                  <a:srgbClr val="FFFFFF"/>
                </a:solidFill>
                <a:latin typeface="Helvetica World"/>
                <a:ea typeface="Helvetica World"/>
                <a:cs typeface="Helvetica World"/>
                <a:sym typeface="Helvetica World"/>
              </a:rPr>
              <a:t>Coastal management agencies</a:t>
            </a:r>
          </a:p>
          <a:p>
            <a:pPr marL="726804" lvl="1" indent="-363402" algn="l">
              <a:lnSpc>
                <a:spcPts val="4376"/>
              </a:lnSpc>
              <a:buFont typeface="Arial"/>
              <a:buChar char="•"/>
            </a:pPr>
            <a:r>
              <a:rPr lang="en-US" sz="3366" spc="-100">
                <a:solidFill>
                  <a:srgbClr val="FFFFFF"/>
                </a:solidFill>
                <a:latin typeface="Helvetica World"/>
                <a:ea typeface="Helvetica World"/>
                <a:cs typeface="Helvetica World"/>
                <a:sym typeface="Helvetica World"/>
              </a:rPr>
              <a:t>Environmental organizations (NGOs)</a:t>
            </a:r>
          </a:p>
        </p:txBody>
      </p:sp>
      <p:sp>
        <p:nvSpPr>
          <p:cNvPr id="7" name="TextBox 7"/>
          <p:cNvSpPr txBox="1"/>
          <p:nvPr/>
        </p:nvSpPr>
        <p:spPr>
          <a:xfrm>
            <a:off x="802841" y="5478747"/>
            <a:ext cx="5023868" cy="3427546"/>
          </a:xfrm>
          <a:prstGeom prst="rect">
            <a:avLst/>
          </a:prstGeom>
        </p:spPr>
        <p:txBody>
          <a:bodyPr lIns="0" tIns="0" rIns="0" bIns="0" rtlCol="0" anchor="t">
            <a:spAutoFit/>
          </a:bodyPr>
          <a:lstStyle/>
          <a:p>
            <a:pPr algn="l">
              <a:lnSpc>
                <a:spcPts val="5933"/>
              </a:lnSpc>
              <a:spcBef>
                <a:spcPct val="0"/>
              </a:spcBef>
            </a:pPr>
            <a:endParaRPr/>
          </a:p>
          <a:p>
            <a:pPr algn="l">
              <a:lnSpc>
                <a:spcPts val="4217"/>
              </a:lnSpc>
              <a:spcBef>
                <a:spcPct val="0"/>
              </a:spcBef>
            </a:pPr>
            <a:r>
              <a:rPr lang="en-US" sz="3195" spc="-156">
                <a:solidFill>
                  <a:srgbClr val="041934"/>
                </a:solidFill>
                <a:latin typeface="Norwester"/>
                <a:ea typeface="Norwester"/>
                <a:cs typeface="Norwester"/>
                <a:sym typeface="Norwester"/>
              </a:rPr>
              <a:t> 1. TOTAL ADDRESSABLE MARKET (TAM)</a:t>
            </a:r>
          </a:p>
          <a:p>
            <a:pPr algn="l">
              <a:lnSpc>
                <a:spcPts val="4217"/>
              </a:lnSpc>
              <a:spcBef>
                <a:spcPct val="0"/>
              </a:spcBef>
            </a:pPr>
            <a:r>
              <a:rPr lang="en-US" sz="3195" spc="-156">
                <a:solidFill>
                  <a:srgbClr val="041934"/>
                </a:solidFill>
                <a:latin typeface="Norwester"/>
                <a:ea typeface="Norwester"/>
                <a:cs typeface="Norwester"/>
                <a:sym typeface="Norwester"/>
              </a:rPr>
              <a:t>THE GLOBAL SMART SYSTEMS / SMART BUILDING MARKET IS ABOUT $140+ BILLION (2025)</a:t>
            </a:r>
          </a:p>
        </p:txBody>
      </p:sp>
      <p:sp>
        <p:nvSpPr>
          <p:cNvPr id="8" name="Freeform 8"/>
          <p:cNvSpPr/>
          <p:nvPr/>
        </p:nvSpPr>
        <p:spPr>
          <a:xfrm>
            <a:off x="6498177" y="5324513"/>
            <a:ext cx="5291646" cy="4095383"/>
          </a:xfrm>
          <a:custGeom>
            <a:avLst/>
            <a:gdLst/>
            <a:ahLst/>
            <a:cxnLst/>
            <a:rect l="l" t="t" r="r" b="b"/>
            <a:pathLst>
              <a:path w="5291646" h="4095383">
                <a:moveTo>
                  <a:pt x="0" y="0"/>
                </a:moveTo>
                <a:lnTo>
                  <a:pt x="5291646" y="0"/>
                </a:lnTo>
                <a:lnTo>
                  <a:pt x="5291646" y="4095383"/>
                </a:lnTo>
                <a:lnTo>
                  <a:pt x="0" y="4095383"/>
                </a:lnTo>
                <a:lnTo>
                  <a:pt x="0" y="0"/>
                </a:lnTo>
                <a:close/>
              </a:path>
            </a:pathLst>
          </a:custGeom>
          <a:blipFill>
            <a:blip r:embed="rId4"/>
            <a:stretch>
              <a:fillRect l="-79723" t="-23968" r="-73661" b="-6990"/>
            </a:stretch>
          </a:blipFill>
        </p:spPr>
      </p:sp>
      <p:sp>
        <p:nvSpPr>
          <p:cNvPr id="9" name="TextBox 9"/>
          <p:cNvSpPr txBox="1"/>
          <p:nvPr/>
        </p:nvSpPr>
        <p:spPr>
          <a:xfrm>
            <a:off x="6944615" y="6191008"/>
            <a:ext cx="4398769" cy="2314767"/>
          </a:xfrm>
          <a:prstGeom prst="rect">
            <a:avLst/>
          </a:prstGeom>
        </p:spPr>
        <p:txBody>
          <a:bodyPr lIns="0" tIns="0" rIns="0" bIns="0" rtlCol="0" anchor="t">
            <a:spAutoFit/>
          </a:bodyPr>
          <a:lstStyle/>
          <a:p>
            <a:pPr algn="l">
              <a:lnSpc>
                <a:spcPts val="4593"/>
              </a:lnSpc>
              <a:spcBef>
                <a:spcPct val="0"/>
              </a:spcBef>
            </a:pPr>
            <a:r>
              <a:rPr lang="en-US" sz="3479" spc="-170">
                <a:solidFill>
                  <a:srgbClr val="000000"/>
                </a:solidFill>
                <a:latin typeface="Norwester"/>
                <a:ea typeface="Norwester"/>
                <a:cs typeface="Norwester"/>
                <a:sym typeface="Norwester"/>
              </a:rPr>
              <a:t>2.SERVICEABLE AVAILABLE MARKET (SAM)</a:t>
            </a:r>
          </a:p>
          <a:p>
            <a:pPr algn="l">
              <a:lnSpc>
                <a:spcPts val="4593"/>
              </a:lnSpc>
              <a:spcBef>
                <a:spcPct val="0"/>
              </a:spcBef>
            </a:pPr>
            <a:r>
              <a:rPr lang="en-US" sz="3479" spc="-170">
                <a:solidFill>
                  <a:srgbClr val="000000"/>
                </a:solidFill>
                <a:latin typeface="Norwester"/>
                <a:ea typeface="Norwester"/>
                <a:cs typeface="Norwester"/>
                <a:sym typeface="Norwester"/>
              </a:rPr>
              <a:t>    APPROX 40–50% OF TAM</a:t>
            </a:r>
          </a:p>
          <a:p>
            <a:pPr algn="l">
              <a:lnSpc>
                <a:spcPts val="4593"/>
              </a:lnSpc>
              <a:spcBef>
                <a:spcPct val="0"/>
              </a:spcBef>
            </a:pPr>
            <a:r>
              <a:rPr lang="en-US" sz="3479" spc="-170">
                <a:solidFill>
                  <a:srgbClr val="000000"/>
                </a:solidFill>
                <a:latin typeface="Norwester"/>
                <a:ea typeface="Norwester"/>
                <a:cs typeface="Norwester"/>
                <a:sym typeface="Norwester"/>
              </a:rPr>
              <a:t> ≈ $60 – $70 BILLION</a:t>
            </a:r>
          </a:p>
        </p:txBody>
      </p:sp>
      <p:sp>
        <p:nvSpPr>
          <p:cNvPr id="10" name="Freeform 10"/>
          <p:cNvSpPr/>
          <p:nvPr/>
        </p:nvSpPr>
        <p:spPr>
          <a:xfrm>
            <a:off x="12502141" y="5324513"/>
            <a:ext cx="5291646" cy="4095383"/>
          </a:xfrm>
          <a:custGeom>
            <a:avLst/>
            <a:gdLst/>
            <a:ahLst/>
            <a:cxnLst/>
            <a:rect l="l" t="t" r="r" b="b"/>
            <a:pathLst>
              <a:path w="5291646" h="4095383">
                <a:moveTo>
                  <a:pt x="0" y="0"/>
                </a:moveTo>
                <a:lnTo>
                  <a:pt x="5291646" y="0"/>
                </a:lnTo>
                <a:lnTo>
                  <a:pt x="5291646" y="4095383"/>
                </a:lnTo>
                <a:lnTo>
                  <a:pt x="0" y="4095383"/>
                </a:lnTo>
                <a:lnTo>
                  <a:pt x="0" y="0"/>
                </a:lnTo>
                <a:close/>
              </a:path>
            </a:pathLst>
          </a:custGeom>
          <a:blipFill>
            <a:blip r:embed="rId4"/>
            <a:stretch>
              <a:fillRect l="-79723" t="-30959" r="-73661"/>
            </a:stretch>
          </a:blipFill>
        </p:spPr>
      </p:sp>
      <p:sp>
        <p:nvSpPr>
          <p:cNvPr id="11" name="TextBox 11"/>
          <p:cNvSpPr txBox="1"/>
          <p:nvPr/>
        </p:nvSpPr>
        <p:spPr>
          <a:xfrm>
            <a:off x="12904248" y="6200533"/>
            <a:ext cx="4856805" cy="2094754"/>
          </a:xfrm>
          <a:prstGeom prst="rect">
            <a:avLst/>
          </a:prstGeom>
        </p:spPr>
        <p:txBody>
          <a:bodyPr lIns="0" tIns="0" rIns="0" bIns="0" rtlCol="0" anchor="t">
            <a:spAutoFit/>
          </a:bodyPr>
          <a:lstStyle/>
          <a:p>
            <a:pPr algn="l">
              <a:lnSpc>
                <a:spcPts val="4233"/>
              </a:lnSpc>
              <a:spcBef>
                <a:spcPct val="0"/>
              </a:spcBef>
            </a:pPr>
            <a:r>
              <a:rPr lang="en-US" sz="3207" spc="-157">
                <a:solidFill>
                  <a:srgbClr val="000000"/>
                </a:solidFill>
                <a:latin typeface="Norwester"/>
                <a:ea typeface="Norwester"/>
                <a:cs typeface="Norwester"/>
                <a:sym typeface="Norwester"/>
              </a:rPr>
              <a:t>3.SERVICEABLE OBTAINABLE MARKET (SOM)</a:t>
            </a:r>
          </a:p>
          <a:p>
            <a:pPr algn="l">
              <a:lnSpc>
                <a:spcPts val="4233"/>
              </a:lnSpc>
              <a:spcBef>
                <a:spcPct val="0"/>
              </a:spcBef>
            </a:pPr>
            <a:r>
              <a:rPr lang="en-US" sz="3207" spc="-157">
                <a:solidFill>
                  <a:srgbClr val="000000"/>
                </a:solidFill>
                <a:latin typeface="Norwester"/>
                <a:ea typeface="Norwester"/>
                <a:cs typeface="Norwester"/>
                <a:sym typeface="Norwester"/>
              </a:rPr>
              <a:t>TYPICALLY 1% – 6% OF SAM</a:t>
            </a:r>
          </a:p>
          <a:p>
            <a:pPr algn="l">
              <a:lnSpc>
                <a:spcPts val="4233"/>
              </a:lnSpc>
              <a:spcBef>
                <a:spcPct val="0"/>
              </a:spcBef>
            </a:pPr>
            <a:r>
              <a:rPr lang="en-US" sz="3207" spc="-157">
                <a:solidFill>
                  <a:srgbClr val="000000"/>
                </a:solidFill>
                <a:latin typeface="Norwester"/>
                <a:ea typeface="Norwester"/>
                <a:cs typeface="Norwester"/>
                <a:sym typeface="Norwester"/>
              </a:rPr>
              <a:t> ≈ $0.6 – $3 BILLION</a:t>
            </a:r>
          </a:p>
        </p:txBody>
      </p:sp>
      <p:sp>
        <p:nvSpPr>
          <p:cNvPr id="12" name="TextBox 12"/>
          <p:cNvSpPr txBox="1"/>
          <p:nvPr/>
        </p:nvSpPr>
        <p:spPr>
          <a:xfrm>
            <a:off x="452340" y="3973350"/>
            <a:ext cx="9026712" cy="1097352"/>
          </a:xfrm>
          <a:prstGeom prst="rect">
            <a:avLst/>
          </a:prstGeom>
        </p:spPr>
        <p:txBody>
          <a:bodyPr wrap="square" lIns="0" tIns="0" rIns="0" bIns="0" rtlCol="0" anchor="t">
            <a:spAutoFit/>
          </a:bodyPr>
          <a:lstStyle/>
          <a:p>
            <a:pPr algn="l">
              <a:lnSpc>
                <a:spcPts val="9451"/>
              </a:lnSpc>
              <a:spcBef>
                <a:spcPct val="0"/>
              </a:spcBef>
            </a:pPr>
            <a:r>
              <a:rPr lang="en-US" sz="7160" spc="-350" dirty="0">
                <a:solidFill>
                  <a:srgbClr val="FFFFFF"/>
                </a:solidFill>
                <a:latin typeface="Norwester"/>
                <a:ea typeface="Norwester"/>
                <a:cs typeface="Norwester"/>
                <a:sym typeface="Norwester"/>
              </a:rPr>
              <a:t>MARKET SIZE ANALYSIS: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3" name="Freeform 3"/>
          <p:cNvSpPr/>
          <p:nvPr/>
        </p:nvSpPr>
        <p:spPr>
          <a:xfrm flipV="1">
            <a:off x="465044" y="9283061"/>
            <a:ext cx="3247475" cy="472360"/>
          </a:xfrm>
          <a:custGeom>
            <a:avLst/>
            <a:gdLst/>
            <a:ahLst/>
            <a:cxnLst/>
            <a:rect l="l" t="t" r="r" b="b"/>
            <a:pathLst>
              <a:path w="3247475" h="472360">
                <a:moveTo>
                  <a:pt x="0" y="472360"/>
                </a:moveTo>
                <a:lnTo>
                  <a:pt x="3247475" y="472360"/>
                </a:lnTo>
                <a:lnTo>
                  <a:pt x="3247475" y="0"/>
                </a:lnTo>
                <a:lnTo>
                  <a:pt x="0" y="0"/>
                </a:lnTo>
                <a:lnTo>
                  <a:pt x="0" y="472360"/>
                </a:lnTo>
                <a:close/>
              </a:path>
            </a:pathLst>
          </a:custGeom>
          <a:blipFill>
            <a:blip>
              <a:extLst>
                <a:ext uri="{96DAC541-7B7A-43D3-8B79-37D633B846F1}">
                  <asvg:svgBlip xmlns:asvg="http://schemas.microsoft.com/office/drawing/2016/SVG/main" r:embed="rId3"/>
                </a:ext>
              </a:extLst>
            </a:blip>
            <a:stretch>
              <a:fillRect/>
            </a:stretch>
          </a:blipFill>
        </p:spPr>
      </p:sp>
      <p:sp>
        <p:nvSpPr>
          <p:cNvPr id="4" name="TextBox 4"/>
          <p:cNvSpPr txBox="1"/>
          <p:nvPr/>
        </p:nvSpPr>
        <p:spPr>
          <a:xfrm>
            <a:off x="764210" y="2063640"/>
            <a:ext cx="11533487" cy="6858536"/>
          </a:xfrm>
          <a:prstGeom prst="rect">
            <a:avLst/>
          </a:prstGeom>
        </p:spPr>
        <p:txBody>
          <a:bodyPr lIns="0" tIns="0" rIns="0" bIns="0" rtlCol="0" anchor="t">
            <a:spAutoFit/>
          </a:bodyPr>
          <a:lstStyle/>
          <a:p>
            <a:pPr algn="l">
              <a:lnSpc>
                <a:spcPts val="5435"/>
              </a:lnSpc>
            </a:pPr>
            <a:endParaRPr/>
          </a:p>
          <a:p>
            <a:pPr marL="889071" lvl="1" indent="-444535" algn="l">
              <a:lnSpc>
                <a:spcPts val="5435"/>
              </a:lnSpc>
              <a:buAutoNum type="arabicPeriod"/>
            </a:pPr>
            <a:r>
              <a:rPr lang="en-US" sz="4117" spc="-201">
                <a:solidFill>
                  <a:srgbClr val="FFFFFF"/>
                </a:solidFill>
                <a:latin typeface="Helvetica World"/>
                <a:ea typeface="Helvetica World"/>
                <a:cs typeface="Helvetica World"/>
                <a:sym typeface="Helvetica World"/>
              </a:rPr>
              <a:t>Reduced marine pollution through early detection</a:t>
            </a:r>
          </a:p>
          <a:p>
            <a:pPr marL="889071" lvl="1" indent="-444535" algn="l">
              <a:lnSpc>
                <a:spcPts val="5435"/>
              </a:lnSpc>
              <a:buAutoNum type="arabicPeriod"/>
            </a:pPr>
            <a:r>
              <a:rPr lang="en-US" sz="4117" spc="-201">
                <a:solidFill>
                  <a:srgbClr val="FFFFFF"/>
                </a:solidFill>
                <a:latin typeface="Helvetica World"/>
                <a:ea typeface="Helvetica World"/>
                <a:cs typeface="Helvetica World"/>
                <a:sym typeface="Helvetica World"/>
              </a:rPr>
              <a:t>Protection of marine biodiversity </a:t>
            </a:r>
          </a:p>
          <a:p>
            <a:pPr marL="889071" lvl="1" indent="-444535" algn="l">
              <a:lnSpc>
                <a:spcPts val="5435"/>
              </a:lnSpc>
              <a:buAutoNum type="arabicPeriod"/>
            </a:pPr>
            <a:r>
              <a:rPr lang="en-US" sz="4117" spc="-201">
                <a:solidFill>
                  <a:srgbClr val="FFFFFF"/>
                </a:solidFill>
                <a:latin typeface="Helvetica World"/>
                <a:ea typeface="Helvetica World"/>
                <a:cs typeface="Helvetica World"/>
                <a:sym typeface="Helvetica World"/>
              </a:rPr>
              <a:t>Controlled and sustainable tourism</a:t>
            </a:r>
          </a:p>
          <a:p>
            <a:pPr marL="889071" lvl="1" indent="-444535" algn="l">
              <a:lnSpc>
                <a:spcPts val="5435"/>
              </a:lnSpc>
              <a:buAutoNum type="arabicPeriod"/>
            </a:pPr>
            <a:r>
              <a:rPr lang="en-US" sz="4117" spc="-201">
                <a:solidFill>
                  <a:srgbClr val="FFFFFF"/>
                </a:solidFill>
                <a:latin typeface="Helvetica World"/>
                <a:ea typeface="Helvetica World"/>
                <a:cs typeface="Helvetica World"/>
                <a:sym typeface="Helvetica World"/>
              </a:rPr>
              <a:t>Reduced overuse of marine resources</a:t>
            </a:r>
          </a:p>
          <a:p>
            <a:pPr marL="889071" lvl="1" indent="-444535" algn="l">
              <a:lnSpc>
                <a:spcPts val="5435"/>
              </a:lnSpc>
              <a:buAutoNum type="arabicPeriod"/>
            </a:pPr>
            <a:r>
              <a:rPr lang="en-US" sz="4117" spc="-201">
                <a:solidFill>
                  <a:srgbClr val="FFFFFF"/>
                </a:solidFill>
                <a:latin typeface="Helvetica World"/>
                <a:ea typeface="Helvetica World"/>
                <a:cs typeface="Helvetica World"/>
                <a:sym typeface="Helvetica World"/>
              </a:rPr>
              <a:t>Faster response from authorities </a:t>
            </a:r>
          </a:p>
          <a:p>
            <a:pPr marL="889071" lvl="1" indent="-444535" algn="l">
              <a:lnSpc>
                <a:spcPts val="5435"/>
              </a:lnSpc>
              <a:buAutoNum type="arabicPeriod"/>
            </a:pPr>
            <a:r>
              <a:rPr lang="en-US" sz="4117" spc="-201">
                <a:solidFill>
                  <a:srgbClr val="FFFFFF"/>
                </a:solidFill>
                <a:latin typeface="Helvetica World"/>
                <a:ea typeface="Helvetica World"/>
                <a:cs typeface="Helvetica World"/>
                <a:sym typeface="Helvetica World"/>
              </a:rPr>
              <a:t>Increased public participation and awareness</a:t>
            </a:r>
          </a:p>
          <a:p>
            <a:pPr marL="889071" lvl="1" indent="-444535" algn="l">
              <a:lnSpc>
                <a:spcPts val="5435"/>
              </a:lnSpc>
              <a:buAutoNum type="arabicPeriod"/>
            </a:pPr>
            <a:r>
              <a:rPr lang="en-US" sz="4117" spc="-201">
                <a:solidFill>
                  <a:srgbClr val="FFFFFF"/>
                </a:solidFill>
                <a:latin typeface="Helvetica World"/>
                <a:ea typeface="Helvetica World"/>
                <a:cs typeface="Helvetica World"/>
                <a:sym typeface="Helvetica World"/>
              </a:rPr>
              <a:t>Real-time monitoring of ocean conditions</a:t>
            </a:r>
          </a:p>
          <a:p>
            <a:pPr marL="889071" lvl="1" indent="-444535" algn="l">
              <a:lnSpc>
                <a:spcPts val="5435"/>
              </a:lnSpc>
              <a:buAutoNum type="arabicPeriod"/>
            </a:pPr>
            <a:r>
              <a:rPr lang="en-US" sz="4117" spc="-201">
                <a:solidFill>
                  <a:srgbClr val="FFFFFF"/>
                </a:solidFill>
                <a:latin typeface="Helvetica World"/>
                <a:ea typeface="Helvetica World"/>
                <a:cs typeface="Helvetica World"/>
                <a:sym typeface="Helvetica World"/>
              </a:rPr>
              <a:t>Data-driven decision making</a:t>
            </a:r>
          </a:p>
          <a:p>
            <a:pPr marL="889071" lvl="1" indent="-444535" algn="l">
              <a:lnSpc>
                <a:spcPts val="5435"/>
              </a:lnSpc>
              <a:buAutoNum type="arabicPeriod"/>
            </a:pPr>
            <a:r>
              <a:rPr lang="en-US" sz="4117" spc="-201">
                <a:solidFill>
                  <a:srgbClr val="FFFFFF"/>
                </a:solidFill>
                <a:latin typeface="Helvetica World"/>
                <a:ea typeface="Helvetica World"/>
                <a:cs typeface="Helvetica World"/>
                <a:sym typeface="Helvetica World"/>
              </a:rPr>
              <a:t>Improved conservation strategies</a:t>
            </a:r>
          </a:p>
        </p:txBody>
      </p:sp>
      <p:sp>
        <p:nvSpPr>
          <p:cNvPr id="5" name="Freeform 5"/>
          <p:cNvSpPr/>
          <p:nvPr/>
        </p:nvSpPr>
        <p:spPr>
          <a:xfrm rot="-5400000" flipV="1">
            <a:off x="15916768" y="1884610"/>
            <a:ext cx="3247475" cy="472360"/>
          </a:xfrm>
          <a:custGeom>
            <a:avLst/>
            <a:gdLst/>
            <a:ahLst/>
            <a:cxnLst/>
            <a:rect l="l" t="t" r="r" b="b"/>
            <a:pathLst>
              <a:path w="3247475" h="472360">
                <a:moveTo>
                  <a:pt x="0" y="472360"/>
                </a:moveTo>
                <a:lnTo>
                  <a:pt x="3247476" y="472360"/>
                </a:lnTo>
                <a:lnTo>
                  <a:pt x="3247476" y="0"/>
                </a:lnTo>
                <a:lnTo>
                  <a:pt x="0" y="0"/>
                </a:lnTo>
                <a:lnTo>
                  <a:pt x="0" y="472360"/>
                </a:lnTo>
                <a:close/>
              </a:path>
            </a:pathLst>
          </a:custGeom>
          <a:blipFill>
            <a:blip>
              <a:extLst>
                <a:ext uri="{96DAC541-7B7A-43D3-8B79-37D633B846F1}">
                  <asvg:svgBlip xmlns:asvg="http://schemas.microsoft.com/office/drawing/2016/SVG/main" r:embed="rId3"/>
                </a:ext>
              </a:extLst>
            </a:blip>
            <a:stretch>
              <a:fillRect/>
            </a:stretch>
          </a:blipFill>
        </p:spPr>
      </p:sp>
      <p:sp>
        <p:nvSpPr>
          <p:cNvPr id="6" name="Freeform 6"/>
          <p:cNvSpPr/>
          <p:nvPr/>
        </p:nvSpPr>
        <p:spPr>
          <a:xfrm>
            <a:off x="12297697" y="4257509"/>
            <a:ext cx="5196116" cy="5261732"/>
          </a:xfrm>
          <a:custGeom>
            <a:avLst/>
            <a:gdLst/>
            <a:ahLst/>
            <a:cxnLst/>
            <a:rect l="l" t="t" r="r" b="b"/>
            <a:pathLst>
              <a:path w="5196116" h="5261732">
                <a:moveTo>
                  <a:pt x="0" y="0"/>
                </a:moveTo>
                <a:lnTo>
                  <a:pt x="5196116" y="0"/>
                </a:lnTo>
                <a:lnTo>
                  <a:pt x="5196116" y="5261732"/>
                </a:lnTo>
                <a:lnTo>
                  <a:pt x="0" y="5261732"/>
                </a:lnTo>
                <a:lnTo>
                  <a:pt x="0" y="0"/>
                </a:lnTo>
                <a:close/>
              </a:path>
            </a:pathLst>
          </a:custGeom>
          <a:blipFill>
            <a:blip r:embed="rId4"/>
            <a:stretch>
              <a:fillRect l="-4683" t="-4624" r="-5094" b="-3784"/>
            </a:stretch>
          </a:blipFill>
        </p:spPr>
      </p:sp>
      <p:sp>
        <p:nvSpPr>
          <p:cNvPr id="7" name="TextBox 7"/>
          <p:cNvSpPr txBox="1"/>
          <p:nvPr/>
        </p:nvSpPr>
        <p:spPr>
          <a:xfrm>
            <a:off x="5865995" y="373228"/>
            <a:ext cx="11201776" cy="1802840"/>
          </a:xfrm>
          <a:prstGeom prst="rect">
            <a:avLst/>
          </a:prstGeom>
        </p:spPr>
        <p:txBody>
          <a:bodyPr lIns="0" tIns="0" rIns="0" bIns="0" rtlCol="0" anchor="t">
            <a:spAutoFit/>
          </a:bodyPr>
          <a:lstStyle/>
          <a:p>
            <a:pPr algn="l">
              <a:lnSpc>
                <a:spcPts val="14557"/>
              </a:lnSpc>
            </a:pPr>
            <a:r>
              <a:rPr lang="en-US" sz="11028" spc="-540">
                <a:solidFill>
                  <a:srgbClr val="38B6FF"/>
                </a:solidFill>
                <a:latin typeface="Norwester"/>
                <a:ea typeface="Norwester"/>
                <a:cs typeface="Norwester"/>
                <a:sym typeface="Norwester"/>
              </a:rPr>
              <a:t>POTENTIAL OUTCOMES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3" name="Freeform 3"/>
          <p:cNvSpPr/>
          <p:nvPr/>
        </p:nvSpPr>
        <p:spPr>
          <a:xfrm rot="-5400000">
            <a:off x="-358858" y="4907320"/>
            <a:ext cx="3247475" cy="472360"/>
          </a:xfrm>
          <a:custGeom>
            <a:avLst/>
            <a:gdLst/>
            <a:ahLst/>
            <a:cxnLst/>
            <a:rect l="l" t="t" r="r" b="b"/>
            <a:pathLst>
              <a:path w="3247475" h="472360">
                <a:moveTo>
                  <a:pt x="0" y="0"/>
                </a:moveTo>
                <a:lnTo>
                  <a:pt x="3247476" y="0"/>
                </a:lnTo>
                <a:lnTo>
                  <a:pt x="3247476" y="472360"/>
                </a:lnTo>
                <a:lnTo>
                  <a:pt x="0" y="47236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 name="Freeform 4"/>
          <p:cNvSpPr/>
          <p:nvPr/>
        </p:nvSpPr>
        <p:spPr>
          <a:xfrm rot="-5400000" flipV="1">
            <a:off x="15399382" y="4907320"/>
            <a:ext cx="3247475" cy="472360"/>
          </a:xfrm>
          <a:custGeom>
            <a:avLst/>
            <a:gdLst/>
            <a:ahLst/>
            <a:cxnLst/>
            <a:rect l="l" t="t" r="r" b="b"/>
            <a:pathLst>
              <a:path w="3247475" h="472360">
                <a:moveTo>
                  <a:pt x="0" y="472360"/>
                </a:moveTo>
                <a:lnTo>
                  <a:pt x="3247476" y="472360"/>
                </a:lnTo>
                <a:lnTo>
                  <a:pt x="3247476" y="0"/>
                </a:lnTo>
                <a:lnTo>
                  <a:pt x="0" y="0"/>
                </a:lnTo>
                <a:lnTo>
                  <a:pt x="0" y="472360"/>
                </a:lnTo>
                <a:close/>
              </a:path>
            </a:pathLst>
          </a:custGeom>
          <a:blipFill>
            <a:blip>
              <a:extLst>
                <a:ext uri="{96DAC541-7B7A-43D3-8B79-37D633B846F1}">
                  <asvg:svgBlip xmlns:asvg="http://schemas.microsoft.com/office/drawing/2016/SVG/main" r:embed="rId3"/>
                </a:ext>
              </a:extLst>
            </a:blip>
            <a:stretch>
              <a:fillRect/>
            </a:stretch>
          </a:blipFill>
        </p:spPr>
      </p:sp>
      <p:sp>
        <p:nvSpPr>
          <p:cNvPr id="5" name="Freeform 5"/>
          <p:cNvSpPr/>
          <p:nvPr/>
        </p:nvSpPr>
        <p:spPr>
          <a:xfrm rot="-10800000">
            <a:off x="15921917" y="8100856"/>
            <a:ext cx="1337383" cy="1157444"/>
          </a:xfrm>
          <a:custGeom>
            <a:avLst/>
            <a:gdLst/>
            <a:ahLst/>
            <a:cxnLst/>
            <a:rect l="l" t="t" r="r" b="b"/>
            <a:pathLst>
              <a:path w="1337383" h="1157444">
                <a:moveTo>
                  <a:pt x="0" y="0"/>
                </a:moveTo>
                <a:lnTo>
                  <a:pt x="1337383" y="0"/>
                </a:lnTo>
                <a:lnTo>
                  <a:pt x="1337383" y="1157444"/>
                </a:lnTo>
                <a:lnTo>
                  <a:pt x="0" y="1157444"/>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6" name="Freeform 6"/>
          <p:cNvSpPr/>
          <p:nvPr/>
        </p:nvSpPr>
        <p:spPr>
          <a:xfrm rot="-10800000" flipH="1">
            <a:off x="1028700" y="8081538"/>
            <a:ext cx="1337383" cy="1157444"/>
          </a:xfrm>
          <a:custGeom>
            <a:avLst/>
            <a:gdLst/>
            <a:ahLst/>
            <a:cxnLst/>
            <a:rect l="l" t="t" r="r" b="b"/>
            <a:pathLst>
              <a:path w="1337383" h="1157444">
                <a:moveTo>
                  <a:pt x="1337383" y="0"/>
                </a:moveTo>
                <a:lnTo>
                  <a:pt x="0" y="0"/>
                </a:lnTo>
                <a:lnTo>
                  <a:pt x="0" y="1157444"/>
                </a:lnTo>
                <a:lnTo>
                  <a:pt x="1337383" y="1157444"/>
                </a:lnTo>
                <a:lnTo>
                  <a:pt x="1337383" y="0"/>
                </a:lnTo>
                <a:close/>
              </a:path>
            </a:pathLst>
          </a:custGeom>
          <a:blipFill>
            <a:blip>
              <a:extLst>
                <a:ext uri="{96DAC541-7B7A-43D3-8B79-37D633B846F1}">
                  <asvg:svgBlip xmlns:asvg="http://schemas.microsoft.com/office/drawing/2016/SVG/main" r:embed="rId4"/>
                </a:ext>
              </a:extLst>
            </a:blip>
            <a:stretch>
              <a:fillRect/>
            </a:stretch>
          </a:blipFill>
        </p:spPr>
      </p:sp>
      <p:sp>
        <p:nvSpPr>
          <p:cNvPr id="7" name="Freeform 7"/>
          <p:cNvSpPr/>
          <p:nvPr/>
        </p:nvSpPr>
        <p:spPr>
          <a:xfrm rot="-10800000">
            <a:off x="16996033" y="1028700"/>
            <a:ext cx="263267" cy="204391"/>
          </a:xfrm>
          <a:custGeom>
            <a:avLst/>
            <a:gdLst/>
            <a:ahLst/>
            <a:cxnLst/>
            <a:rect l="l" t="t" r="r" b="b"/>
            <a:pathLst>
              <a:path w="263267" h="204391">
                <a:moveTo>
                  <a:pt x="0" y="0"/>
                </a:moveTo>
                <a:lnTo>
                  <a:pt x="263267" y="0"/>
                </a:lnTo>
                <a:lnTo>
                  <a:pt x="263267" y="204391"/>
                </a:lnTo>
                <a:lnTo>
                  <a:pt x="0" y="204391"/>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8" name="Freeform 8"/>
          <p:cNvSpPr/>
          <p:nvPr/>
        </p:nvSpPr>
        <p:spPr>
          <a:xfrm rot="-10800000" flipH="1">
            <a:off x="1028700" y="1028700"/>
            <a:ext cx="263267" cy="204391"/>
          </a:xfrm>
          <a:custGeom>
            <a:avLst/>
            <a:gdLst/>
            <a:ahLst/>
            <a:cxnLst/>
            <a:rect l="l" t="t" r="r" b="b"/>
            <a:pathLst>
              <a:path w="263267" h="204391">
                <a:moveTo>
                  <a:pt x="263267" y="0"/>
                </a:moveTo>
                <a:lnTo>
                  <a:pt x="0" y="0"/>
                </a:lnTo>
                <a:lnTo>
                  <a:pt x="0" y="204391"/>
                </a:lnTo>
                <a:lnTo>
                  <a:pt x="263267" y="204391"/>
                </a:lnTo>
                <a:lnTo>
                  <a:pt x="263267" y="0"/>
                </a:lnTo>
                <a:close/>
              </a:path>
            </a:pathLst>
          </a:custGeom>
          <a:blipFill>
            <a:blip>
              <a:extLst>
                <a:ext uri="{96DAC541-7B7A-43D3-8B79-37D633B846F1}">
                  <asvg:svgBlip xmlns:asvg="http://schemas.microsoft.com/office/drawing/2016/SVG/main" r:embed="rId5"/>
                </a:ext>
              </a:extLst>
            </a:blip>
            <a:stretch>
              <a:fillRect/>
            </a:stretch>
          </a:blipFill>
        </p:spPr>
      </p:sp>
      <p:sp>
        <p:nvSpPr>
          <p:cNvPr id="9" name="TextBox 9"/>
          <p:cNvSpPr txBox="1"/>
          <p:nvPr/>
        </p:nvSpPr>
        <p:spPr>
          <a:xfrm>
            <a:off x="2835963" y="3447612"/>
            <a:ext cx="12616074" cy="3163176"/>
          </a:xfrm>
          <a:prstGeom prst="rect">
            <a:avLst/>
          </a:prstGeom>
        </p:spPr>
        <p:txBody>
          <a:bodyPr lIns="0" tIns="0" rIns="0" bIns="0" rtlCol="0" anchor="t">
            <a:spAutoFit/>
          </a:bodyPr>
          <a:lstStyle/>
          <a:p>
            <a:pPr algn="ctr">
              <a:lnSpc>
                <a:spcPts val="25590"/>
              </a:lnSpc>
            </a:pPr>
            <a:r>
              <a:rPr lang="en-US" sz="19386" spc="-949">
                <a:solidFill>
                  <a:srgbClr val="38B6FF"/>
                </a:solidFill>
                <a:latin typeface="Norwester"/>
                <a:ea typeface="Norwester"/>
                <a:cs typeface="Norwester"/>
                <a:sym typeface="Norwester"/>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274</Words>
  <Application>Microsoft Office PowerPoint</Application>
  <PresentationFormat>Custom</PresentationFormat>
  <Paragraphs>38</Paragraphs>
  <Slides>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Calibri</vt:lpstr>
      <vt:lpstr>Helvetica World</vt:lpstr>
      <vt:lpstr>Arial</vt:lpstr>
      <vt:lpstr>Norwester</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Blue and Black Modern Technology Presentation</dc:title>
  <dc:creator>bcnan</dc:creator>
  <cp:lastModifiedBy>bcnandyal2003@gmail.com</cp:lastModifiedBy>
  <cp:revision>2</cp:revision>
  <dcterms:created xsi:type="dcterms:W3CDTF">2006-08-16T00:00:00Z</dcterms:created>
  <dcterms:modified xsi:type="dcterms:W3CDTF">2026-04-01T14:20:00Z</dcterms:modified>
  <dc:identifier>DAHFmCn0bTo</dc:identifier>
</cp:coreProperties>
</file>